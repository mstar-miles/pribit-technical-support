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"/>
  </p:handoutMasterIdLst>
  <p:sldIdLst>
    <p:sldId id="257" r:id="rId2"/>
    <p:sldId id="261" r:id="rId3"/>
    <p:sldId id="260" r:id="rId4"/>
    <p:sldId id="259" r:id="rId5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3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6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856" y="-2520"/>
      </p:cViewPr>
      <p:guideLst>
        <p:guide orient="horz" pos="3143"/>
        <p:guide pos="2160"/>
        <p:guide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406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8ECB127-05E1-A3EF-2895-F5D19B205A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4E5C14-49E9-AFF1-607C-39C058C477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6123B-8712-4FEF-B78F-24A208C9EAA8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CF0364-40FC-D14D-4998-0A7E448969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A44CC0-9D8B-343E-4445-B1D7D9B2ED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1F147-65B3-492B-AB3B-131F038F66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20178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03F4FC0-427D-511A-9CBC-046672003CA9}"/>
              </a:ext>
            </a:extLst>
          </p:cNvPr>
          <p:cNvGrpSpPr/>
          <p:nvPr userDrawn="1"/>
        </p:nvGrpSpPr>
        <p:grpSpPr>
          <a:xfrm>
            <a:off x="4264169" y="161132"/>
            <a:ext cx="3513392" cy="1125543"/>
            <a:chOff x="283675" y="109728"/>
            <a:chExt cx="4676324" cy="149809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333F912-2263-B18B-EFEA-1A8DE87EBBEC}"/>
                </a:ext>
              </a:extLst>
            </p:cNvPr>
            <p:cNvGrpSpPr/>
            <p:nvPr/>
          </p:nvGrpSpPr>
          <p:grpSpPr>
            <a:xfrm>
              <a:off x="1507224" y="109728"/>
              <a:ext cx="1742082" cy="1498098"/>
              <a:chOff x="1507224" y="109728"/>
              <a:chExt cx="1742082" cy="149809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7817A03D-E291-4675-C70C-ADE4AD936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07224" y="109728"/>
                <a:ext cx="1742082" cy="1498098"/>
              </a:xfrm>
              <a:prstGeom prst="rect">
                <a:avLst/>
              </a:prstGeom>
            </p:spPr>
          </p:pic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0EDF5451-3F33-542B-FED7-650179563B51}"/>
                  </a:ext>
                </a:extLst>
              </p:cNvPr>
              <p:cNvSpPr/>
              <p:nvPr/>
            </p:nvSpPr>
            <p:spPr>
              <a:xfrm>
                <a:off x="1741384" y="384373"/>
                <a:ext cx="249819" cy="249819"/>
              </a:xfrm>
              <a:prstGeom prst="roundRect">
                <a:avLst/>
              </a:prstGeom>
              <a:noFill/>
              <a:ln w="8255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6E58BB-4E13-E03C-470A-FBE2645A4E1D}"/>
                </a:ext>
              </a:extLst>
            </p:cNvPr>
            <p:cNvSpPr txBox="1"/>
            <p:nvPr/>
          </p:nvSpPr>
          <p:spPr>
            <a:xfrm>
              <a:off x="283675" y="427185"/>
              <a:ext cx="4676324" cy="6437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PRIBIT</a:t>
              </a:r>
            </a:p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Technology</a:t>
              </a:r>
              <a:endParaRPr kumimoji="1"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5A25EC2-B999-DF5B-E266-2E7F0B978FDF}"/>
              </a:ext>
            </a:extLst>
          </p:cNvPr>
          <p:cNvGrpSpPr/>
          <p:nvPr userDrawn="1"/>
        </p:nvGrpSpPr>
        <p:grpSpPr>
          <a:xfrm>
            <a:off x="387542" y="546365"/>
            <a:ext cx="2168653" cy="325782"/>
            <a:chOff x="193039" y="1021853"/>
            <a:chExt cx="2168653" cy="32578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D7C260E-606B-FF2A-6198-38A0DA722361}"/>
                </a:ext>
              </a:extLst>
            </p:cNvPr>
            <p:cNvGrpSpPr/>
            <p:nvPr/>
          </p:nvGrpSpPr>
          <p:grpSpPr>
            <a:xfrm>
              <a:off x="193039" y="1021853"/>
              <a:ext cx="2168653" cy="325782"/>
              <a:chOff x="302767" y="2161386"/>
              <a:chExt cx="2168653" cy="325782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0BF3093C-F27A-DFBC-7C3E-2A72F80C8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767" y="2487168"/>
                <a:ext cx="1917511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57B176-8750-0DBC-FC08-2919ECC3B55D}"/>
                  </a:ext>
                </a:extLst>
              </p:cNvPr>
              <p:cNvSpPr txBox="1"/>
              <p:nvPr/>
            </p:nvSpPr>
            <p:spPr>
              <a:xfrm>
                <a:off x="524256" y="2161386"/>
                <a:ext cx="1947164" cy="228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r>
                  <a:rPr kumimoji="1"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CJK KR Bold" panose="020B0800000000000000" pitchFamily="34" charset="-127"/>
                    <a:ea typeface="Noto Sans CJK KR Bold" panose="020B0800000000000000" pitchFamily="34" charset="-127"/>
                  </a:rPr>
                  <a:t>PRIBIT CONNECT</a:t>
                </a:r>
                <a:endParaRPr kumimoji="1"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endParaRP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016120D-24D9-30A8-F5C4-C20BD5775A5A}"/>
                </a:ext>
              </a:extLst>
            </p:cNvPr>
            <p:cNvSpPr/>
            <p:nvPr/>
          </p:nvSpPr>
          <p:spPr>
            <a:xfrm>
              <a:off x="208630" y="1088979"/>
              <a:ext cx="128196" cy="128196"/>
            </a:xfrm>
            <a:prstGeom prst="roundRect">
              <a:avLst/>
            </a:prstGeom>
            <a:noFill/>
            <a:ln w="38100">
              <a:solidFill>
                <a:srgbClr val="5F23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151256C-58BE-D5EB-4F6E-6042B2B9B875}"/>
              </a:ext>
            </a:extLst>
          </p:cNvPr>
          <p:cNvSpPr txBox="1"/>
          <p:nvPr userDrawn="1"/>
        </p:nvSpPr>
        <p:spPr>
          <a:xfrm>
            <a:off x="1454693" y="3856143"/>
            <a:ext cx="3948614" cy="5387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algn="ctr" defTabSz="457200" rtl="0" eaLnBrk="1" latinLnBrk="0" hangingPunct="1"/>
            <a:r>
              <a:rPr kumimoji="1"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PRIBIT Connect</a:t>
            </a:r>
            <a:endParaRPr kumimoji="1" lang="ko-KR" altLang="en-US" sz="4000" b="1" kern="1200" dirty="0">
              <a:solidFill>
                <a:schemeClr val="tx1">
                  <a:lumMod val="75000"/>
                  <a:lumOff val="2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C2E0C-081D-3531-CA80-998E982B5345}"/>
              </a:ext>
            </a:extLst>
          </p:cNvPr>
          <p:cNvSpPr txBox="1"/>
          <p:nvPr userDrawn="1"/>
        </p:nvSpPr>
        <p:spPr>
          <a:xfrm>
            <a:off x="1257263" y="4524212"/>
            <a:ext cx="4343475" cy="86761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 defTabSz="457200" rtl="0" eaLnBrk="1" latinLnBrk="0" hangingPunct="1"/>
            <a:r>
              <a:rPr kumimoji="1" lang="en-US" altLang="ko-KR" sz="2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ZTNA </a:t>
            </a:r>
            <a:r>
              <a:rPr kumimoji="1" lang="ko-KR" altLang="en-US" sz="2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도입을 위한</a:t>
            </a:r>
            <a:endParaRPr kumimoji="1" lang="en-US" altLang="ko-KR" sz="2800" b="1" kern="1200" dirty="0">
              <a:solidFill>
                <a:schemeClr val="tx1">
                  <a:lumMod val="75000"/>
                  <a:lumOff val="2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  <a:p>
            <a:pPr marL="0" algn="ctr" defTabSz="457200" rtl="0" eaLnBrk="1" latinLnBrk="0" hangingPunct="1"/>
            <a:r>
              <a:rPr kumimoji="1" lang="ko-KR" altLang="en-US" sz="2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사전 환경 조사 및 요청서</a:t>
            </a:r>
          </a:p>
        </p:txBody>
      </p:sp>
    </p:spTree>
    <p:extLst>
      <p:ext uri="{BB962C8B-B14F-4D97-AF65-F5344CB8AC3E}">
        <p14:creationId xmlns:p14="http://schemas.microsoft.com/office/powerpoint/2010/main" val="962050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03F4FC0-427D-511A-9CBC-046672003CA9}"/>
              </a:ext>
            </a:extLst>
          </p:cNvPr>
          <p:cNvGrpSpPr/>
          <p:nvPr userDrawn="1"/>
        </p:nvGrpSpPr>
        <p:grpSpPr>
          <a:xfrm>
            <a:off x="4264169" y="161132"/>
            <a:ext cx="3513392" cy="1125543"/>
            <a:chOff x="283675" y="109728"/>
            <a:chExt cx="4676324" cy="149809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333F912-2263-B18B-EFEA-1A8DE87EBBEC}"/>
                </a:ext>
              </a:extLst>
            </p:cNvPr>
            <p:cNvGrpSpPr/>
            <p:nvPr/>
          </p:nvGrpSpPr>
          <p:grpSpPr>
            <a:xfrm>
              <a:off x="1507224" y="109728"/>
              <a:ext cx="1742082" cy="1498098"/>
              <a:chOff x="1507224" y="109728"/>
              <a:chExt cx="1742082" cy="149809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7817A03D-E291-4675-C70C-ADE4AD936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07224" y="109728"/>
                <a:ext cx="1742082" cy="1498098"/>
              </a:xfrm>
              <a:prstGeom prst="rect">
                <a:avLst/>
              </a:prstGeom>
            </p:spPr>
          </p:pic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0EDF5451-3F33-542B-FED7-650179563B51}"/>
                  </a:ext>
                </a:extLst>
              </p:cNvPr>
              <p:cNvSpPr/>
              <p:nvPr/>
            </p:nvSpPr>
            <p:spPr>
              <a:xfrm>
                <a:off x="1741384" y="384373"/>
                <a:ext cx="249819" cy="249819"/>
              </a:xfrm>
              <a:prstGeom prst="roundRect">
                <a:avLst/>
              </a:prstGeom>
              <a:noFill/>
              <a:ln w="8255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6E58BB-4E13-E03C-470A-FBE2645A4E1D}"/>
                </a:ext>
              </a:extLst>
            </p:cNvPr>
            <p:cNvSpPr txBox="1"/>
            <p:nvPr/>
          </p:nvSpPr>
          <p:spPr>
            <a:xfrm>
              <a:off x="283675" y="427185"/>
              <a:ext cx="4676324" cy="6437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PRIBIT</a:t>
              </a:r>
            </a:p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Technology</a:t>
              </a:r>
              <a:endParaRPr kumimoji="1"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D1E11B7-1E0B-5AE0-2851-5926E755DB6C}"/>
              </a:ext>
            </a:extLst>
          </p:cNvPr>
          <p:cNvGrpSpPr/>
          <p:nvPr userDrawn="1"/>
        </p:nvGrpSpPr>
        <p:grpSpPr>
          <a:xfrm>
            <a:off x="379498" y="546365"/>
            <a:ext cx="2176697" cy="614920"/>
            <a:chOff x="360446" y="546365"/>
            <a:chExt cx="2176697" cy="61492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F81A59F-B320-53E9-ACD7-53A9E93A16BE}"/>
                </a:ext>
              </a:extLst>
            </p:cNvPr>
            <p:cNvGrpSpPr/>
            <p:nvPr/>
          </p:nvGrpSpPr>
          <p:grpSpPr>
            <a:xfrm>
              <a:off x="368490" y="546365"/>
              <a:ext cx="2168653" cy="325782"/>
              <a:chOff x="193039" y="1021853"/>
              <a:chExt cx="2168653" cy="325782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32986C5-8B91-9179-A3A6-A112EFDDE5A5}"/>
                  </a:ext>
                </a:extLst>
              </p:cNvPr>
              <p:cNvGrpSpPr/>
              <p:nvPr/>
            </p:nvGrpSpPr>
            <p:grpSpPr>
              <a:xfrm>
                <a:off x="193039" y="1021853"/>
                <a:ext cx="2168653" cy="325782"/>
                <a:chOff x="302767" y="2161386"/>
                <a:chExt cx="2168653" cy="325782"/>
              </a:xfrm>
            </p:grpSpPr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C206AE3D-F94F-5298-3309-C28701E4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767" y="2487168"/>
                  <a:ext cx="1917511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DB9F5C1-2EE5-5217-CACA-A4E49A52A8CA}"/>
                    </a:ext>
                  </a:extLst>
                </p:cNvPr>
                <p:cNvSpPr txBox="1"/>
                <p:nvPr/>
              </p:nvSpPr>
              <p:spPr>
                <a:xfrm>
                  <a:off x="524256" y="2161386"/>
                  <a:ext cx="1947164" cy="228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r>
                    <a:rPr kumimoji="1"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Noto Sans CJK KR Bold" panose="020B0800000000000000" pitchFamily="34" charset="-127"/>
                      <a:ea typeface="Noto Sans CJK KR Bold" panose="020B0800000000000000" pitchFamily="34" charset="-127"/>
                    </a:rPr>
                    <a:t>PRIBIT CONNECT</a:t>
                  </a:r>
                  <a:endParaRPr kumimoji="1"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CJK KR Bold" panose="020B0800000000000000" pitchFamily="34" charset="-127"/>
                    <a:ea typeface="Noto Sans CJK KR Bold" panose="020B0800000000000000" pitchFamily="34" charset="-127"/>
                  </a:endParaRPr>
                </a:p>
              </p:txBody>
            </p:sp>
          </p:grp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41BC0E4E-BB5F-A6F5-99AA-4286F26AEA03}"/>
                  </a:ext>
                </a:extLst>
              </p:cNvPr>
              <p:cNvSpPr/>
              <p:nvPr/>
            </p:nvSpPr>
            <p:spPr>
              <a:xfrm>
                <a:off x="208630" y="1088979"/>
                <a:ext cx="128196" cy="128196"/>
              </a:xfrm>
              <a:prstGeom prst="roundRect">
                <a:avLst/>
              </a:prstGeom>
              <a:noFill/>
              <a:ln w="3810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5A70CC-6F3A-BBB1-D32A-80D97D39E7A6}"/>
                </a:ext>
              </a:extLst>
            </p:cNvPr>
            <p:cNvSpPr txBox="1"/>
            <p:nvPr/>
          </p:nvSpPr>
          <p:spPr>
            <a:xfrm>
              <a:off x="360446" y="933039"/>
              <a:ext cx="1842057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algn="l" defTabSz="457200" rtl="0" eaLnBrk="1" latinLnBrk="0" hangingPunct="1"/>
              <a:r>
                <a:rPr kumimoji="1"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ZTNA </a:t>
              </a:r>
              <a:r>
                <a:rPr kumimoji="1"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서비스 구성</a:t>
              </a:r>
              <a:endParaRPr kumimoji="1" lang="ko-KR" alt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endParaRPr>
            </a:p>
          </p:txBody>
        </p:sp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69B0292-D4B4-8340-DF55-74DF52A1C3D7}"/>
              </a:ext>
            </a:extLst>
          </p:cNvPr>
          <p:cNvSpPr/>
          <p:nvPr userDrawn="1"/>
        </p:nvSpPr>
        <p:spPr>
          <a:xfrm>
            <a:off x="346597" y="1611491"/>
            <a:ext cx="6084616" cy="3493909"/>
          </a:xfrm>
          <a:prstGeom prst="roundRect">
            <a:avLst>
              <a:gd name="adj" fmla="val 6911"/>
            </a:avLst>
          </a:prstGeom>
          <a:noFill/>
          <a:ln w="28575">
            <a:solidFill>
              <a:srgbClr val="776CD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8B632-8C64-3A59-9954-CEED405AF9A1}"/>
              </a:ext>
            </a:extLst>
          </p:cNvPr>
          <p:cNvSpPr txBox="1"/>
          <p:nvPr userDrawn="1"/>
        </p:nvSpPr>
        <p:spPr>
          <a:xfrm>
            <a:off x="347210" y="5172970"/>
            <a:ext cx="5254724" cy="2145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latin typeface="+mn-ea"/>
              </a:rPr>
              <a:t>※ </a:t>
            </a:r>
            <a:r>
              <a:rPr lang="ko-KR" altLang="en-US" sz="900" b="1" dirty="0">
                <a:latin typeface="+mn-ea"/>
              </a:rPr>
              <a:t>해당 구성도는 서비스 흐름에 대한 이해를 돕기 위해 작성된 논리 구성도입니다</a:t>
            </a:r>
            <a:r>
              <a:rPr lang="en-US" altLang="ko-KR" sz="900" b="1" dirty="0">
                <a:latin typeface="+mn-ea"/>
              </a:rPr>
              <a:t>.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F550FCB-30EC-BC62-F0F7-1AA7442BA189}"/>
              </a:ext>
            </a:extLst>
          </p:cNvPr>
          <p:cNvGrpSpPr/>
          <p:nvPr userDrawn="1"/>
        </p:nvGrpSpPr>
        <p:grpSpPr>
          <a:xfrm>
            <a:off x="397573" y="1359644"/>
            <a:ext cx="2124161" cy="228246"/>
            <a:chOff x="397573" y="1941304"/>
            <a:chExt cx="2124161" cy="22824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C1F4326-8C8D-9F4C-CEE8-5772A55C8A38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서비스 논리 구성도</a:t>
              </a:r>
            </a:p>
          </p:txBody>
        </p:sp>
        <p:sp>
          <p:nvSpPr>
            <p:cNvPr id="64" name="사각형: 잘린 대각선 방향 모서리 63">
              <a:extLst>
                <a:ext uri="{FF2B5EF4-FFF2-40B4-BE49-F238E27FC236}">
                  <a16:creationId xmlns:a16="http://schemas.microsoft.com/office/drawing/2014/main" id="{C2DA5B92-9493-DA30-D458-A36FC1FB8FD5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21DBAEBD-3C1F-B278-ED64-817ECEDA9BAA}"/>
              </a:ext>
            </a:extLst>
          </p:cNvPr>
          <p:cNvGrpSpPr/>
          <p:nvPr userDrawn="1"/>
        </p:nvGrpSpPr>
        <p:grpSpPr>
          <a:xfrm>
            <a:off x="397573" y="5614299"/>
            <a:ext cx="2124161" cy="228246"/>
            <a:chOff x="397573" y="1941304"/>
            <a:chExt cx="2124161" cy="228246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2F8CB6E-5F1C-6241-6327-07DE521AFB1F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서비스 로직 다이어그램 </a:t>
              </a:r>
            </a:p>
          </p:txBody>
        </p:sp>
        <p:sp>
          <p:nvSpPr>
            <p:cNvPr id="145" name="사각형: 잘린 대각선 방향 모서리 144">
              <a:extLst>
                <a:ext uri="{FF2B5EF4-FFF2-40B4-BE49-F238E27FC236}">
                  <a16:creationId xmlns:a16="http://schemas.microsoft.com/office/drawing/2014/main" id="{9537968F-2F75-1AE8-64ED-CA3DEB3F4BD4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C0BC27A-7DD3-F435-C26D-5E618823986D}"/>
              </a:ext>
            </a:extLst>
          </p:cNvPr>
          <p:cNvSpPr/>
          <p:nvPr userDrawn="1"/>
        </p:nvSpPr>
        <p:spPr>
          <a:xfrm>
            <a:off x="346597" y="5851480"/>
            <a:ext cx="6084616" cy="3687043"/>
          </a:xfrm>
          <a:prstGeom prst="roundRect">
            <a:avLst>
              <a:gd name="adj" fmla="val 6911"/>
            </a:avLst>
          </a:prstGeom>
          <a:noFill/>
          <a:ln w="28575">
            <a:solidFill>
              <a:srgbClr val="776CD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714B6B3-BB63-ED4F-8EA0-7083E75B21B0}"/>
              </a:ext>
            </a:extLst>
          </p:cNvPr>
          <p:cNvSpPr txBox="1"/>
          <p:nvPr userDrawn="1"/>
        </p:nvSpPr>
        <p:spPr>
          <a:xfrm>
            <a:off x="351278" y="9588526"/>
            <a:ext cx="5024536" cy="2145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latin typeface="+mn-ea"/>
              </a:rPr>
              <a:t>※ </a:t>
            </a:r>
            <a:r>
              <a:rPr lang="ko-KR" altLang="en-US" sz="900" b="1" dirty="0">
                <a:latin typeface="+mn-ea"/>
              </a:rPr>
              <a:t>해당 다이어그램은 제품 로직에 대한 이해를 돕기 위해 작성된 다이어그램입니다</a:t>
            </a:r>
            <a:r>
              <a:rPr lang="en-US" altLang="ko-KR" sz="900" b="1" dirty="0">
                <a:latin typeface="+mn-ea"/>
              </a:rPr>
              <a:t>.</a:t>
            </a:r>
            <a:endParaRPr lang="ko-KR" altLang="en-US" sz="900" b="1" dirty="0">
              <a:latin typeface="+mn-ea"/>
            </a:endParaRPr>
          </a:p>
        </p:txBody>
      </p:sp>
      <p:pic>
        <p:nvPicPr>
          <p:cNvPr id="18" name="그림 17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E9C71C96-F5D4-31F9-2BCE-CBDBB34E1D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2" y="1719762"/>
            <a:ext cx="5985222" cy="3344520"/>
          </a:xfrm>
          <a:prstGeom prst="rect">
            <a:avLst/>
          </a:prstGeom>
        </p:spPr>
      </p:pic>
      <p:pic>
        <p:nvPicPr>
          <p:cNvPr id="20" name="그림 19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D0CD64B7-9903-5C7D-273A-39BD437B92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16" y="5941076"/>
            <a:ext cx="4836367" cy="350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34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03F4FC0-427D-511A-9CBC-046672003CA9}"/>
              </a:ext>
            </a:extLst>
          </p:cNvPr>
          <p:cNvGrpSpPr/>
          <p:nvPr userDrawn="1"/>
        </p:nvGrpSpPr>
        <p:grpSpPr>
          <a:xfrm>
            <a:off x="4264169" y="161132"/>
            <a:ext cx="3513392" cy="1125543"/>
            <a:chOff x="283675" y="109728"/>
            <a:chExt cx="4676324" cy="149809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333F912-2263-B18B-EFEA-1A8DE87EBBEC}"/>
                </a:ext>
              </a:extLst>
            </p:cNvPr>
            <p:cNvGrpSpPr/>
            <p:nvPr/>
          </p:nvGrpSpPr>
          <p:grpSpPr>
            <a:xfrm>
              <a:off x="1507224" y="109728"/>
              <a:ext cx="1742082" cy="1498098"/>
              <a:chOff x="1507224" y="109728"/>
              <a:chExt cx="1742082" cy="149809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7817A03D-E291-4675-C70C-ADE4AD936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07224" y="109728"/>
                <a:ext cx="1742082" cy="1498098"/>
              </a:xfrm>
              <a:prstGeom prst="rect">
                <a:avLst/>
              </a:prstGeom>
            </p:spPr>
          </p:pic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0EDF5451-3F33-542B-FED7-650179563B51}"/>
                  </a:ext>
                </a:extLst>
              </p:cNvPr>
              <p:cNvSpPr/>
              <p:nvPr/>
            </p:nvSpPr>
            <p:spPr>
              <a:xfrm>
                <a:off x="1741384" y="384373"/>
                <a:ext cx="249819" cy="249819"/>
              </a:xfrm>
              <a:prstGeom prst="roundRect">
                <a:avLst/>
              </a:prstGeom>
              <a:noFill/>
              <a:ln w="8255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6E58BB-4E13-E03C-470A-FBE2645A4E1D}"/>
                </a:ext>
              </a:extLst>
            </p:cNvPr>
            <p:cNvSpPr txBox="1"/>
            <p:nvPr/>
          </p:nvSpPr>
          <p:spPr>
            <a:xfrm>
              <a:off x="283675" y="427185"/>
              <a:ext cx="4676324" cy="6437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PRIBIT</a:t>
              </a:r>
            </a:p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Technology</a:t>
              </a:r>
              <a:endParaRPr kumimoji="1"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101CDD7-9016-902E-601E-2BA1980CBD89}"/>
              </a:ext>
            </a:extLst>
          </p:cNvPr>
          <p:cNvGrpSpPr/>
          <p:nvPr userDrawn="1"/>
        </p:nvGrpSpPr>
        <p:grpSpPr>
          <a:xfrm>
            <a:off x="397573" y="4365947"/>
            <a:ext cx="2124161" cy="228246"/>
            <a:chOff x="397573" y="1941304"/>
            <a:chExt cx="2124161" cy="2282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595FE7A-D11C-1BE0-A23A-D36F5F855E4C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latin typeface="+mn-ea"/>
                </a:rPr>
                <a:t>대상 업무 시스템 </a:t>
              </a:r>
              <a:r>
                <a:rPr lang="en-US" altLang="ko-KR" sz="10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ko-KR" altLang="en-US" sz="1000" b="1" dirty="0">
                  <a:solidFill>
                    <a:srgbClr val="FF0000"/>
                  </a:solidFill>
                  <a:latin typeface="+mn-ea"/>
                </a:rPr>
                <a:t>필수 작성 요청</a:t>
              </a:r>
              <a:r>
                <a:rPr lang="en-US" altLang="ko-KR" sz="1000" b="1" dirty="0">
                  <a:solidFill>
                    <a:srgbClr val="FF0000"/>
                  </a:solidFill>
                  <a:latin typeface="+mn-ea"/>
                </a:rPr>
                <a:t>)</a:t>
              </a:r>
              <a:endParaRPr lang="ko-KR" altLang="en-US" sz="10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2" name="사각형: 잘린 대각선 방향 모서리 21">
              <a:extLst>
                <a:ext uri="{FF2B5EF4-FFF2-40B4-BE49-F238E27FC236}">
                  <a16:creationId xmlns:a16="http://schemas.microsoft.com/office/drawing/2014/main" id="{133A0C16-5331-92E1-1F3E-4866D9C452AF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DDCAFFD-3F65-87EC-9704-F25889CE248A}"/>
              </a:ext>
            </a:extLst>
          </p:cNvPr>
          <p:cNvGrpSpPr/>
          <p:nvPr userDrawn="1"/>
        </p:nvGrpSpPr>
        <p:grpSpPr>
          <a:xfrm>
            <a:off x="397573" y="1613644"/>
            <a:ext cx="2124161" cy="228246"/>
            <a:chOff x="397573" y="1941304"/>
            <a:chExt cx="2124161" cy="2282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BD558FB-6CE3-64B0-BB28-4D8234ED6FA2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en-US" altLang="ko-KR" sz="1000" b="1" dirty="0">
                  <a:latin typeface="+mn-ea"/>
                </a:rPr>
                <a:t>IP </a:t>
              </a:r>
              <a:r>
                <a:rPr lang="ko-KR" altLang="en-US" sz="1000" b="1" dirty="0">
                  <a:latin typeface="+mn-ea"/>
                </a:rPr>
                <a:t>할당 </a:t>
              </a:r>
              <a:r>
                <a:rPr lang="en-US" altLang="ko-KR" sz="10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ko-KR" altLang="en-US" sz="1000" b="1" dirty="0">
                  <a:solidFill>
                    <a:srgbClr val="FF0000"/>
                  </a:solidFill>
                  <a:latin typeface="+mn-ea"/>
                </a:rPr>
                <a:t>필수 작성 요청</a:t>
              </a:r>
              <a:r>
                <a:rPr lang="en-US" altLang="ko-KR" sz="1000" b="1" dirty="0">
                  <a:solidFill>
                    <a:srgbClr val="FF0000"/>
                  </a:solidFill>
                  <a:latin typeface="+mn-ea"/>
                </a:rPr>
                <a:t>)</a:t>
              </a:r>
              <a:endParaRPr lang="ko-KR" altLang="en-US" sz="10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5" name="사각형: 잘린 대각선 방향 모서리 24">
              <a:extLst>
                <a:ext uri="{FF2B5EF4-FFF2-40B4-BE49-F238E27FC236}">
                  <a16:creationId xmlns:a16="http://schemas.microsoft.com/office/drawing/2014/main" id="{D7ABE809-9AB5-805D-234F-A317B16B8B83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402FA29-DA0F-1DA0-62FE-65944F0F851E}"/>
              </a:ext>
            </a:extLst>
          </p:cNvPr>
          <p:cNvGrpSpPr/>
          <p:nvPr userDrawn="1"/>
        </p:nvGrpSpPr>
        <p:grpSpPr>
          <a:xfrm>
            <a:off x="397573" y="8687248"/>
            <a:ext cx="2124161" cy="228246"/>
            <a:chOff x="397573" y="1941304"/>
            <a:chExt cx="2124161" cy="22824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79B2029-1334-5FFB-A204-542109D59DD9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latin typeface="+mn-ea"/>
                </a:rPr>
                <a:t>망 구성도 </a:t>
              </a:r>
              <a:r>
                <a:rPr lang="en-US" altLang="ko-KR" sz="1000" b="1" dirty="0">
                  <a:solidFill>
                    <a:schemeClr val="accent2"/>
                  </a:solidFill>
                  <a:latin typeface="+mn-ea"/>
                </a:rPr>
                <a:t>(</a:t>
              </a:r>
              <a:r>
                <a:rPr lang="ko-KR" altLang="en-US" sz="1000" b="1" dirty="0">
                  <a:solidFill>
                    <a:schemeClr val="accent2"/>
                  </a:solidFill>
                  <a:latin typeface="+mn-ea"/>
                </a:rPr>
                <a:t>선택 작성 요청</a:t>
              </a:r>
              <a:r>
                <a:rPr lang="en-US" altLang="ko-KR" sz="1000" b="1" dirty="0">
                  <a:solidFill>
                    <a:schemeClr val="accent2"/>
                  </a:solidFill>
                  <a:latin typeface="+mn-ea"/>
                </a:rPr>
                <a:t>)</a:t>
              </a:r>
              <a:endParaRPr lang="ko-KR" altLang="en-US" sz="1000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4" name="사각형: 잘린 대각선 방향 모서리 3">
              <a:extLst>
                <a:ext uri="{FF2B5EF4-FFF2-40B4-BE49-F238E27FC236}">
                  <a16:creationId xmlns:a16="http://schemas.microsoft.com/office/drawing/2014/main" id="{93B2030E-6F7F-073C-15A6-A0E70D446B36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8117CFB-322B-0CF8-269D-B249F97CF0CB}"/>
              </a:ext>
            </a:extLst>
          </p:cNvPr>
          <p:cNvSpPr/>
          <p:nvPr userDrawn="1"/>
        </p:nvSpPr>
        <p:spPr>
          <a:xfrm>
            <a:off x="403133" y="9033852"/>
            <a:ext cx="6086567" cy="622211"/>
          </a:xfrm>
          <a:prstGeom prst="roundRect">
            <a:avLst>
              <a:gd name="adj" fmla="val 6911"/>
            </a:avLst>
          </a:prstGeom>
          <a:noFill/>
          <a:ln w="28575">
            <a:solidFill>
              <a:srgbClr val="776CD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E93AF26-BB36-EF68-005B-394E36828899}"/>
              </a:ext>
            </a:extLst>
          </p:cNvPr>
          <p:cNvGrpSpPr/>
          <p:nvPr userDrawn="1"/>
        </p:nvGrpSpPr>
        <p:grpSpPr>
          <a:xfrm>
            <a:off x="379498" y="546365"/>
            <a:ext cx="2291513" cy="636974"/>
            <a:chOff x="360446" y="546365"/>
            <a:chExt cx="2291513" cy="636974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E435F5D-74C2-EFB5-EC8A-4654EDDF325E}"/>
                </a:ext>
              </a:extLst>
            </p:cNvPr>
            <p:cNvGrpSpPr/>
            <p:nvPr/>
          </p:nvGrpSpPr>
          <p:grpSpPr>
            <a:xfrm>
              <a:off x="368490" y="546365"/>
              <a:ext cx="2168653" cy="325782"/>
              <a:chOff x="193039" y="1021853"/>
              <a:chExt cx="2168653" cy="325782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834BEC2-F73A-0EA5-37D5-E893D2D0744D}"/>
                  </a:ext>
                </a:extLst>
              </p:cNvPr>
              <p:cNvGrpSpPr/>
              <p:nvPr/>
            </p:nvGrpSpPr>
            <p:grpSpPr>
              <a:xfrm>
                <a:off x="193039" y="1021853"/>
                <a:ext cx="2168653" cy="325782"/>
                <a:chOff x="302767" y="2161386"/>
                <a:chExt cx="2168653" cy="325782"/>
              </a:xfrm>
            </p:grpSpPr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54EF4C5A-EF13-4DAE-1893-38690C384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767" y="2487168"/>
                  <a:ext cx="1917511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7BDE225-8A96-FF24-E684-2BCC1DA29310}"/>
                    </a:ext>
                  </a:extLst>
                </p:cNvPr>
                <p:cNvSpPr txBox="1"/>
                <p:nvPr/>
              </p:nvSpPr>
              <p:spPr>
                <a:xfrm>
                  <a:off x="524256" y="2161386"/>
                  <a:ext cx="1947164" cy="228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r>
                    <a:rPr kumimoji="1"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Noto Sans CJK KR Bold" panose="020B0800000000000000" pitchFamily="34" charset="-127"/>
                      <a:ea typeface="Noto Sans CJK KR Bold" panose="020B0800000000000000" pitchFamily="34" charset="-127"/>
                    </a:rPr>
                    <a:t>PRIBIT CONNECT</a:t>
                  </a:r>
                  <a:endParaRPr kumimoji="1"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CJK KR Bold" panose="020B0800000000000000" pitchFamily="34" charset="-127"/>
                    <a:ea typeface="Noto Sans CJK KR Bold" panose="020B0800000000000000" pitchFamily="34" charset="-127"/>
                  </a:endParaRPr>
                </a:p>
              </p:txBody>
            </p:sp>
          </p:grp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1A64D070-8A7E-DF69-24C2-3B393C5427E9}"/>
                  </a:ext>
                </a:extLst>
              </p:cNvPr>
              <p:cNvSpPr/>
              <p:nvPr/>
            </p:nvSpPr>
            <p:spPr>
              <a:xfrm>
                <a:off x="208630" y="1088979"/>
                <a:ext cx="128196" cy="128196"/>
              </a:xfrm>
              <a:prstGeom prst="roundRect">
                <a:avLst/>
              </a:prstGeom>
              <a:noFill/>
              <a:ln w="3810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703276-AD42-58D6-0B70-24D83D658E18}"/>
                </a:ext>
              </a:extLst>
            </p:cNvPr>
            <p:cNvSpPr txBox="1"/>
            <p:nvPr/>
          </p:nvSpPr>
          <p:spPr>
            <a:xfrm>
              <a:off x="360446" y="933038"/>
              <a:ext cx="2291513" cy="2503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algn="l" defTabSz="457200" rtl="0" eaLnBrk="1" latinLnBrk="0" hangingPunct="1"/>
              <a:r>
                <a:rPr kumimoji="1" lang="ko-KR" altLang="en-US" sz="1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  <a:cs typeface="+mn-cs"/>
                </a:rPr>
                <a:t>구성 환경 조사서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3889D32-A854-5253-5807-24DE2C3D96A0}"/>
              </a:ext>
            </a:extLst>
          </p:cNvPr>
          <p:cNvSpPr txBox="1"/>
          <p:nvPr userDrawn="1"/>
        </p:nvSpPr>
        <p:spPr>
          <a:xfrm>
            <a:off x="881556" y="9214148"/>
            <a:ext cx="5094888" cy="2909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※ </a:t>
            </a:r>
            <a:r>
              <a:rPr lang="ko-KR" altLang="en-US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망구성도 첨부가 보안상 불가능할 시 미 첨부 또는 제공 가능한 정도로만 별도 첨부 해주시면 됩니다</a:t>
            </a:r>
            <a:r>
              <a:rPr lang="en-US" altLang="ko-KR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해당 구성도는 외부로 반출되지 않으며</a:t>
            </a:r>
            <a:r>
              <a:rPr lang="en-US" altLang="ko-KR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구축 시 참고 자료로만 사용됩니다</a:t>
            </a:r>
            <a:r>
              <a:rPr lang="en-US" altLang="ko-KR" sz="9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.</a:t>
            </a:r>
            <a:endParaRPr lang="ko-KR" altLang="en-US" sz="900" b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AD85C2B-BD8E-2714-589E-D83E1C3BA1CC}"/>
              </a:ext>
            </a:extLst>
          </p:cNvPr>
          <p:cNvGrpSpPr/>
          <p:nvPr userDrawn="1"/>
        </p:nvGrpSpPr>
        <p:grpSpPr>
          <a:xfrm>
            <a:off x="397573" y="6775517"/>
            <a:ext cx="2124161" cy="228246"/>
            <a:chOff x="397573" y="1941304"/>
            <a:chExt cx="2124161" cy="22824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297A80-AFE2-3520-B0AC-0D99562BA04A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latin typeface="+mn-ea"/>
                </a:rPr>
                <a:t>플랫폼 선택 </a:t>
              </a:r>
              <a:r>
                <a:rPr lang="en-US" altLang="ko-KR" sz="10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ko-KR" altLang="en-US" sz="1000" b="1" dirty="0">
                  <a:solidFill>
                    <a:srgbClr val="FF0000"/>
                  </a:solidFill>
                  <a:latin typeface="+mn-ea"/>
                </a:rPr>
                <a:t>필수 작성 요청</a:t>
              </a:r>
              <a:r>
                <a:rPr lang="en-US" altLang="ko-KR" sz="1000" b="1" dirty="0">
                  <a:solidFill>
                    <a:srgbClr val="FF0000"/>
                  </a:solidFill>
                  <a:latin typeface="+mn-ea"/>
                </a:rPr>
                <a:t>)</a:t>
              </a:r>
              <a:endParaRPr lang="ko-KR" altLang="en-US" sz="10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7" name="사각형: 잘린 대각선 방향 모서리 26">
              <a:extLst>
                <a:ext uri="{FF2B5EF4-FFF2-40B4-BE49-F238E27FC236}">
                  <a16:creationId xmlns:a16="http://schemas.microsoft.com/office/drawing/2014/main" id="{BE0D9F84-55F4-09DD-40DF-FC8804DBD056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1464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03F4FC0-427D-511A-9CBC-046672003CA9}"/>
              </a:ext>
            </a:extLst>
          </p:cNvPr>
          <p:cNvGrpSpPr/>
          <p:nvPr userDrawn="1"/>
        </p:nvGrpSpPr>
        <p:grpSpPr>
          <a:xfrm>
            <a:off x="4264169" y="161132"/>
            <a:ext cx="3513392" cy="1125543"/>
            <a:chOff x="283675" y="109728"/>
            <a:chExt cx="4676324" cy="149809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333F912-2263-B18B-EFEA-1A8DE87EBBEC}"/>
                </a:ext>
              </a:extLst>
            </p:cNvPr>
            <p:cNvGrpSpPr/>
            <p:nvPr/>
          </p:nvGrpSpPr>
          <p:grpSpPr>
            <a:xfrm>
              <a:off x="1507224" y="109728"/>
              <a:ext cx="1742082" cy="1498098"/>
              <a:chOff x="1507224" y="109728"/>
              <a:chExt cx="1742082" cy="149809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7817A03D-E291-4675-C70C-ADE4AD936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07224" y="109728"/>
                <a:ext cx="1742082" cy="1498098"/>
              </a:xfrm>
              <a:prstGeom prst="rect">
                <a:avLst/>
              </a:prstGeom>
            </p:spPr>
          </p:pic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0EDF5451-3F33-542B-FED7-650179563B51}"/>
                  </a:ext>
                </a:extLst>
              </p:cNvPr>
              <p:cNvSpPr/>
              <p:nvPr/>
            </p:nvSpPr>
            <p:spPr>
              <a:xfrm>
                <a:off x="1741384" y="384373"/>
                <a:ext cx="249819" cy="249819"/>
              </a:xfrm>
              <a:prstGeom prst="roundRect">
                <a:avLst/>
              </a:prstGeom>
              <a:noFill/>
              <a:ln w="8255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6E58BB-4E13-E03C-470A-FBE2645A4E1D}"/>
                </a:ext>
              </a:extLst>
            </p:cNvPr>
            <p:cNvSpPr txBox="1"/>
            <p:nvPr/>
          </p:nvSpPr>
          <p:spPr>
            <a:xfrm>
              <a:off x="283675" y="427185"/>
              <a:ext cx="4676324" cy="6437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PRIBIT</a:t>
              </a:r>
            </a:p>
            <a:p>
              <a:r>
                <a:rPr kumimoji="1"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Technology</a:t>
              </a:r>
              <a:endParaRPr kumimoji="1"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A25966A-A113-23F6-33EC-F47D969E7BA1}"/>
              </a:ext>
            </a:extLst>
          </p:cNvPr>
          <p:cNvGrpSpPr/>
          <p:nvPr userDrawn="1"/>
        </p:nvGrpSpPr>
        <p:grpSpPr>
          <a:xfrm>
            <a:off x="344233" y="1375519"/>
            <a:ext cx="2124161" cy="228246"/>
            <a:chOff x="397573" y="1941304"/>
            <a:chExt cx="2124161" cy="22824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0E6AC5B-6FC2-A145-3D55-1D828F0D195E}"/>
                </a:ext>
              </a:extLst>
            </p:cNvPr>
            <p:cNvSpPr txBox="1"/>
            <p:nvPr/>
          </p:nvSpPr>
          <p:spPr>
            <a:xfrm>
              <a:off x="574570" y="1941304"/>
              <a:ext cx="1947164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latin typeface="+mn-ea"/>
                </a:rPr>
                <a:t>네트워크 구성 </a:t>
              </a:r>
              <a:r>
                <a:rPr lang="en-US" altLang="ko-KR" sz="1000" b="1" dirty="0">
                  <a:latin typeface="+mn-ea"/>
                </a:rPr>
                <a:t>(</a:t>
              </a:r>
              <a:r>
                <a:rPr lang="ko-KR" altLang="en-US" sz="1000" b="1" dirty="0">
                  <a:latin typeface="+mn-ea"/>
                </a:rPr>
                <a:t>예시</a:t>
              </a:r>
              <a:r>
                <a:rPr lang="en-US" altLang="ko-KR" sz="1000" b="1" dirty="0">
                  <a:latin typeface="+mn-ea"/>
                </a:rPr>
                <a:t>)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4" name="사각형: 잘린 대각선 방향 모서리 3">
              <a:extLst>
                <a:ext uri="{FF2B5EF4-FFF2-40B4-BE49-F238E27FC236}">
                  <a16:creationId xmlns:a16="http://schemas.microsoft.com/office/drawing/2014/main" id="{4701113F-CF24-7AA1-1843-6B1075CDB377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D1E11B7-1E0B-5AE0-2851-5926E755DB6C}"/>
              </a:ext>
            </a:extLst>
          </p:cNvPr>
          <p:cNvGrpSpPr/>
          <p:nvPr userDrawn="1"/>
        </p:nvGrpSpPr>
        <p:grpSpPr>
          <a:xfrm>
            <a:off x="379498" y="546365"/>
            <a:ext cx="3226782" cy="683611"/>
            <a:chOff x="360446" y="546365"/>
            <a:chExt cx="3226782" cy="68361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F81A59F-B320-53E9-ACD7-53A9E93A16BE}"/>
                </a:ext>
              </a:extLst>
            </p:cNvPr>
            <p:cNvGrpSpPr/>
            <p:nvPr/>
          </p:nvGrpSpPr>
          <p:grpSpPr>
            <a:xfrm>
              <a:off x="368490" y="546365"/>
              <a:ext cx="2168653" cy="325782"/>
              <a:chOff x="193039" y="1021853"/>
              <a:chExt cx="2168653" cy="325782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32986C5-8B91-9179-A3A6-A112EFDDE5A5}"/>
                  </a:ext>
                </a:extLst>
              </p:cNvPr>
              <p:cNvGrpSpPr/>
              <p:nvPr/>
            </p:nvGrpSpPr>
            <p:grpSpPr>
              <a:xfrm>
                <a:off x="193039" y="1021853"/>
                <a:ext cx="2168653" cy="325782"/>
                <a:chOff x="302767" y="2161386"/>
                <a:chExt cx="2168653" cy="325782"/>
              </a:xfrm>
            </p:grpSpPr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C206AE3D-F94F-5298-3309-C28701E4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767" y="2487168"/>
                  <a:ext cx="1917511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DB9F5C1-2EE5-5217-CACA-A4E49A52A8CA}"/>
                    </a:ext>
                  </a:extLst>
                </p:cNvPr>
                <p:cNvSpPr txBox="1"/>
                <p:nvPr/>
              </p:nvSpPr>
              <p:spPr>
                <a:xfrm>
                  <a:off x="524256" y="2161386"/>
                  <a:ext cx="1947164" cy="228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r>
                    <a:rPr kumimoji="1"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Noto Sans CJK KR Bold" panose="020B0800000000000000" pitchFamily="34" charset="-127"/>
                      <a:ea typeface="Noto Sans CJK KR Bold" panose="020B0800000000000000" pitchFamily="34" charset="-127"/>
                    </a:rPr>
                    <a:t>PRIBIT CONNECT</a:t>
                  </a:r>
                  <a:endParaRPr kumimoji="1"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CJK KR Bold" panose="020B0800000000000000" pitchFamily="34" charset="-127"/>
                    <a:ea typeface="Noto Sans CJK KR Bold" panose="020B0800000000000000" pitchFamily="34" charset="-127"/>
                  </a:endParaRPr>
                </a:p>
              </p:txBody>
            </p:sp>
          </p:grp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41BC0E4E-BB5F-A6F5-99AA-4286F26AEA03}"/>
                  </a:ext>
                </a:extLst>
              </p:cNvPr>
              <p:cNvSpPr/>
              <p:nvPr/>
            </p:nvSpPr>
            <p:spPr>
              <a:xfrm>
                <a:off x="208630" y="1088979"/>
                <a:ext cx="128196" cy="128196"/>
              </a:xfrm>
              <a:prstGeom prst="roundRect">
                <a:avLst/>
              </a:prstGeom>
              <a:noFill/>
              <a:ln w="38100">
                <a:solidFill>
                  <a:srgbClr val="5F23A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5A70CC-6F3A-BBB1-D32A-80D97D39E7A6}"/>
                </a:ext>
              </a:extLst>
            </p:cNvPr>
            <p:cNvSpPr txBox="1"/>
            <p:nvPr/>
          </p:nvSpPr>
          <p:spPr>
            <a:xfrm>
              <a:off x="360446" y="933039"/>
              <a:ext cx="3226782" cy="2969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algn="l" defTabSz="457200" rtl="0" eaLnBrk="1" latinLnBrk="0" hangingPunct="1"/>
              <a:r>
                <a:rPr kumimoji="1"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구성 환경 설정 요청서</a:t>
              </a:r>
              <a:endParaRPr kumimoji="1" lang="ko-KR" alt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92F9F8-5095-1BA5-73E5-5C44F13F8031}"/>
              </a:ext>
            </a:extLst>
          </p:cNvPr>
          <p:cNvSpPr/>
          <p:nvPr userDrawn="1"/>
        </p:nvSpPr>
        <p:spPr>
          <a:xfrm>
            <a:off x="346597" y="1636892"/>
            <a:ext cx="6084616" cy="2505352"/>
          </a:xfrm>
          <a:prstGeom prst="roundRect">
            <a:avLst>
              <a:gd name="adj" fmla="val 6911"/>
            </a:avLst>
          </a:prstGeom>
          <a:noFill/>
          <a:ln w="28575">
            <a:solidFill>
              <a:srgbClr val="776CD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2" name="Group 480">
            <a:extLst>
              <a:ext uri="{FF2B5EF4-FFF2-40B4-BE49-F238E27FC236}">
                <a16:creationId xmlns:a16="http://schemas.microsoft.com/office/drawing/2014/main" id="{1FFDC612-158A-C74F-58E7-E602C4A38A7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65232366"/>
              </p:ext>
            </p:extLst>
          </p:nvPr>
        </p:nvGraphicFramePr>
        <p:xfrm>
          <a:off x="317322" y="4507975"/>
          <a:ext cx="6121399" cy="1609680"/>
        </p:xfrm>
        <a:graphic>
          <a:graphicData uri="http://schemas.openxmlformats.org/drawingml/2006/table">
            <a:tbl>
              <a:tblPr/>
              <a:tblGrid>
                <a:gridCol w="107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659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1008659">
                  <a:extLst>
                    <a:ext uri="{9D8B030D-6E8A-4147-A177-3AD203B41FA5}">
                      <a16:colId xmlns:a16="http://schemas.microsoft.com/office/drawing/2014/main" val="4287111227"/>
                    </a:ext>
                  </a:extLst>
                </a:gridCol>
                <a:gridCol w="1008659">
                  <a:extLst>
                    <a:ext uri="{9D8B030D-6E8A-4147-A177-3AD203B41FA5}">
                      <a16:colId xmlns:a16="http://schemas.microsoft.com/office/drawing/2014/main" val="1359190485"/>
                    </a:ext>
                  </a:extLst>
                </a:gridCol>
                <a:gridCol w="769722">
                  <a:extLst>
                    <a:ext uri="{9D8B030D-6E8A-4147-A177-3AD203B41FA5}">
                      <a16:colId xmlns:a16="http://schemas.microsoft.com/office/drawing/2014/main" val="2618556011"/>
                    </a:ext>
                  </a:extLst>
                </a:gridCol>
                <a:gridCol w="1247596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출발지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목적지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Protocol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Port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Action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에이전트 사용자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외부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Unicode MS" pitchFamily="50" charset="-127"/>
                        </a:rPr>
                        <a:t>TCP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443(TLS)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Allow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 접속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Unicode MS" pitchFamily="50" charset="-127"/>
                        </a:rPr>
                        <a:t>TCP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5996(API)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Allow</a:t>
                      </a:r>
                    </a:p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양방향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API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통신</a:t>
                      </a:r>
                      <a:b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en-US" altLang="ko-KR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제품 간 </a:t>
                      </a:r>
                      <a:r>
                        <a:rPr lang="en-US" altLang="ko-KR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Interlink</a:t>
                      </a:r>
                      <a:r>
                        <a:rPr lang="ko-KR" altLang="en-US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로 </a:t>
                      </a:r>
                      <a:br>
                        <a:rPr lang="en-US" altLang="ko-KR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ko-KR" altLang="en-US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구성 요청 시 설정 불필요</a:t>
                      </a:r>
                      <a:r>
                        <a:rPr lang="en-US" altLang="ko-KR" sz="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  <a:endParaRPr lang="ko-KR" altLang="en-US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에이전트 사용자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외부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Unicode MS" pitchFamily="50" charset="-127"/>
                        </a:rPr>
                        <a:t>TCP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443(HTTPS)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Allow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SSL VPN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터널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04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대역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</a:t>
                      </a:r>
                      <a:endParaRPr lang="en-US" altLang="ko-KR" sz="1000" b="1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TCP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5996(HTTPS)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Allow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관리자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GUI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5304"/>
                  </a:ext>
                </a:extLst>
              </a:tr>
            </a:tbl>
          </a:graphicData>
        </a:graphic>
      </p:graphicFrame>
      <p:graphicFrame>
        <p:nvGraphicFramePr>
          <p:cNvPr id="93" name="Group 480">
            <a:extLst>
              <a:ext uri="{FF2B5EF4-FFF2-40B4-BE49-F238E27FC236}">
                <a16:creationId xmlns:a16="http://schemas.microsoft.com/office/drawing/2014/main" id="{581832DB-F672-1E10-A612-9BCEE7E203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24318018"/>
              </p:ext>
            </p:extLst>
          </p:nvPr>
        </p:nvGraphicFramePr>
        <p:xfrm>
          <a:off x="317324" y="6514258"/>
          <a:ext cx="6121402" cy="978000"/>
        </p:xfrm>
        <a:graphic>
          <a:graphicData uri="http://schemas.openxmlformats.org/drawingml/2006/table">
            <a:tbl>
              <a:tblPr/>
              <a:tblGrid>
                <a:gridCol w="1078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3042050199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1359190485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2618556011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출발지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목적지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변환</a:t>
                      </a: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IP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Port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Action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외부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공인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사설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443(TLS)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DNAT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에이전트 통신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외부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공인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사설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443(HTTPS)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DNAT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SSL VPN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터널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322848"/>
                  </a:ext>
                </a:extLst>
              </a:tr>
            </a:tbl>
          </a:graphicData>
        </a:graphic>
      </p:graphicFrame>
      <p:grpSp>
        <p:nvGrpSpPr>
          <p:cNvPr id="94" name="그룹 93">
            <a:extLst>
              <a:ext uri="{FF2B5EF4-FFF2-40B4-BE49-F238E27FC236}">
                <a16:creationId xmlns:a16="http://schemas.microsoft.com/office/drawing/2014/main" id="{0F78BB73-4AFF-B04F-0680-438EBC7190D3}"/>
              </a:ext>
            </a:extLst>
          </p:cNvPr>
          <p:cNvGrpSpPr/>
          <p:nvPr userDrawn="1"/>
        </p:nvGrpSpPr>
        <p:grpSpPr>
          <a:xfrm>
            <a:off x="346596" y="4240195"/>
            <a:ext cx="2291829" cy="186153"/>
            <a:chOff x="397573" y="1953336"/>
            <a:chExt cx="2291829" cy="18615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11F4D71-DCC4-610F-FD71-DBEB412EC13D}"/>
                </a:ext>
              </a:extLst>
            </p:cNvPr>
            <p:cNvSpPr txBox="1"/>
            <p:nvPr/>
          </p:nvSpPr>
          <p:spPr>
            <a:xfrm>
              <a:off x="574570" y="1953336"/>
              <a:ext cx="2114832" cy="18615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1" indent="0" algn="l" defTabSz="914343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SzPct val="100000"/>
                <a:buFontTx/>
                <a:buNone/>
                <a:tabLst/>
                <a:defRPr/>
              </a:pPr>
              <a:r>
                <a:rPr lang="ko-KR" altLang="en-US" sz="1000" b="1" dirty="0">
                  <a:latin typeface="+mn-ea"/>
                </a:rPr>
                <a:t>방화벽 허용 정책 </a:t>
              </a:r>
              <a:r>
                <a:rPr lang="en-US" altLang="ko-KR" sz="1000" b="1" kern="1200" dirty="0">
                  <a:solidFill>
                    <a:srgbClr val="FF0000"/>
                  </a:solidFill>
                  <a:latin typeface="+mn-ea"/>
                  <a:ea typeface="+mn-ea"/>
                  <a:cs typeface="+mn-cs"/>
                </a:rPr>
                <a:t>(</a:t>
              </a:r>
              <a:r>
                <a:rPr lang="ko-KR" altLang="en-US" sz="1000" b="1" kern="1200" dirty="0">
                  <a:solidFill>
                    <a:srgbClr val="FF0000"/>
                  </a:solidFill>
                  <a:latin typeface="+mn-ea"/>
                  <a:ea typeface="+mn-ea"/>
                  <a:cs typeface="+mn-cs"/>
                </a:rPr>
                <a:t>필수 적용 사항</a:t>
              </a:r>
              <a:r>
                <a:rPr lang="en-US" altLang="ko-KR" sz="1000" b="1" kern="1200" dirty="0">
                  <a:solidFill>
                    <a:srgbClr val="FF0000"/>
                  </a:solidFill>
                  <a:latin typeface="+mn-ea"/>
                  <a:ea typeface="+mn-ea"/>
                  <a:cs typeface="+mn-cs"/>
                </a:rPr>
                <a:t>)</a:t>
              </a:r>
              <a:r>
                <a:rPr lang="ko-KR" altLang="en-US" sz="1000" b="1" kern="1200" dirty="0">
                  <a:solidFill>
                    <a:srgbClr val="FF0000"/>
                  </a:solidFill>
                  <a:latin typeface="+mn-ea"/>
                  <a:ea typeface="+mn-ea"/>
                  <a:cs typeface="+mn-cs"/>
                </a:rPr>
                <a:t> </a:t>
              </a:r>
            </a:p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endParaRPr lang="ko-KR" altLang="en-US" sz="10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96" name="사각형: 잘린 대각선 방향 모서리 95">
              <a:extLst>
                <a:ext uri="{FF2B5EF4-FFF2-40B4-BE49-F238E27FC236}">
                  <a16:creationId xmlns:a16="http://schemas.microsoft.com/office/drawing/2014/main" id="{D166F412-83F5-3DE9-06AE-26426F5A2A0D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4D704857-2FB5-8EDA-14F7-C7B428767D99}"/>
              </a:ext>
            </a:extLst>
          </p:cNvPr>
          <p:cNvGrpSpPr/>
          <p:nvPr userDrawn="1"/>
        </p:nvGrpSpPr>
        <p:grpSpPr>
          <a:xfrm>
            <a:off x="346596" y="6268136"/>
            <a:ext cx="3656965" cy="152138"/>
            <a:chOff x="397573" y="1953336"/>
            <a:chExt cx="3656965" cy="152138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06A97CB-8A45-4362-2C03-FF4BD978D528}"/>
                </a:ext>
              </a:extLst>
            </p:cNvPr>
            <p:cNvSpPr txBox="1"/>
            <p:nvPr/>
          </p:nvSpPr>
          <p:spPr>
            <a:xfrm>
              <a:off x="577144" y="1953336"/>
              <a:ext cx="3477394" cy="1521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장비 사설</a:t>
              </a:r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IP </a:t>
              </a: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사용 시 포트 포워딩 정책 </a:t>
              </a:r>
              <a:r>
                <a:rPr lang="en-US" altLang="ko-KR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(</a:t>
              </a:r>
              <a:r>
                <a:rPr lang="ko-KR" altLang="en-US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조건부 적용 사항</a:t>
              </a:r>
              <a:r>
                <a:rPr lang="en-US" altLang="ko-KR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)</a:t>
              </a:r>
              <a:r>
                <a:rPr lang="ko-KR" altLang="en-US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99" name="사각형: 잘린 대각선 방향 모서리 98">
              <a:extLst>
                <a:ext uri="{FF2B5EF4-FFF2-40B4-BE49-F238E27FC236}">
                  <a16:creationId xmlns:a16="http://schemas.microsoft.com/office/drawing/2014/main" id="{0F551B58-5B5B-5E68-B60A-2D2F3C35528D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02D8F7E-1A77-6F93-A837-9ADF2A054D93}"/>
              </a:ext>
            </a:extLst>
          </p:cNvPr>
          <p:cNvSpPr txBox="1"/>
          <p:nvPr userDrawn="1"/>
        </p:nvSpPr>
        <p:spPr>
          <a:xfrm>
            <a:off x="1409700" y="7495517"/>
            <a:ext cx="5021512" cy="2282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latin typeface="+mn-ea"/>
              </a:rPr>
              <a:t>※ </a:t>
            </a:r>
            <a:r>
              <a:rPr lang="ko-KR" altLang="en-US" sz="900" b="1" dirty="0">
                <a:latin typeface="+mn-ea"/>
              </a:rPr>
              <a:t>해당 정책은</a:t>
            </a:r>
            <a:r>
              <a:rPr lang="en-US" altLang="ko-KR" sz="900" b="1" dirty="0">
                <a:latin typeface="+mn-ea"/>
              </a:rPr>
              <a:t> </a:t>
            </a:r>
            <a:r>
              <a:rPr lang="ko-KR" altLang="en-US" sz="900" b="1" dirty="0">
                <a:latin typeface="+mn-ea"/>
              </a:rPr>
              <a:t>장비 </a:t>
            </a:r>
            <a:r>
              <a:rPr lang="en-US" altLang="ko-KR" sz="900" b="1" dirty="0">
                <a:latin typeface="+mn-ea"/>
              </a:rPr>
              <a:t>IP</a:t>
            </a:r>
            <a:r>
              <a:rPr lang="ko-KR" altLang="en-US" sz="900" b="1" dirty="0">
                <a:latin typeface="+mn-ea"/>
              </a:rPr>
              <a:t>를 사설</a:t>
            </a:r>
            <a:r>
              <a:rPr lang="en-US" altLang="ko-KR" sz="900" b="1" dirty="0">
                <a:latin typeface="+mn-ea"/>
              </a:rPr>
              <a:t>IP</a:t>
            </a:r>
            <a:r>
              <a:rPr lang="ko-KR" altLang="en-US" sz="900" b="1" dirty="0">
                <a:latin typeface="+mn-ea"/>
              </a:rPr>
              <a:t>로 구성했을 경우의 외부 사용자 접근을 위한 </a:t>
            </a:r>
            <a:r>
              <a:rPr lang="en-US" altLang="ko-KR" sz="900" b="1" dirty="0">
                <a:latin typeface="+mn-ea"/>
              </a:rPr>
              <a:t>DNAT </a:t>
            </a:r>
            <a:r>
              <a:rPr lang="ko-KR" altLang="en-US" sz="900" b="1" dirty="0">
                <a:latin typeface="+mn-ea"/>
              </a:rPr>
              <a:t>정책 입니다</a:t>
            </a:r>
            <a:r>
              <a:rPr lang="en-US" altLang="ko-KR" sz="900" b="1" dirty="0">
                <a:latin typeface="+mn-ea"/>
              </a:rPr>
              <a:t>.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6A5415F-2BEE-0B3E-436A-D80586177601}"/>
              </a:ext>
            </a:extLst>
          </p:cNvPr>
          <p:cNvGrpSpPr/>
          <p:nvPr userDrawn="1"/>
        </p:nvGrpSpPr>
        <p:grpSpPr>
          <a:xfrm>
            <a:off x="346596" y="7715058"/>
            <a:ext cx="4396854" cy="228246"/>
            <a:chOff x="397573" y="1941304"/>
            <a:chExt cx="4396854" cy="2282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842C96-4386-BB57-7D2B-0DB555F48F8F}"/>
                </a:ext>
              </a:extLst>
            </p:cNvPr>
            <p:cNvSpPr txBox="1"/>
            <p:nvPr/>
          </p:nvSpPr>
          <p:spPr>
            <a:xfrm>
              <a:off x="574569" y="1941304"/>
              <a:ext cx="4219858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통신 라우팅 </a:t>
              </a:r>
              <a:r>
                <a:rPr lang="en-US" altLang="ko-KR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(</a:t>
              </a:r>
              <a:r>
                <a:rPr lang="ko-KR" altLang="en-US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엔지니어 설정 사항</a:t>
              </a:r>
              <a:r>
                <a:rPr lang="en-US" altLang="ko-KR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)</a:t>
              </a:r>
              <a:endParaRPr lang="ko-KR" altLang="en-US" sz="1000" b="1" kern="1200" dirty="0">
                <a:solidFill>
                  <a:schemeClr val="accent2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5" name="사각형: 잘린 대각선 방향 모서리 24">
              <a:extLst>
                <a:ext uri="{FF2B5EF4-FFF2-40B4-BE49-F238E27FC236}">
                  <a16:creationId xmlns:a16="http://schemas.microsoft.com/office/drawing/2014/main" id="{93D7FF8A-EF75-D25E-6B57-FC36F9C8A395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aphicFrame>
        <p:nvGraphicFramePr>
          <p:cNvPr id="28" name="Group 480">
            <a:extLst>
              <a:ext uri="{FF2B5EF4-FFF2-40B4-BE49-F238E27FC236}">
                <a16:creationId xmlns:a16="http://schemas.microsoft.com/office/drawing/2014/main" id="{4A11FBCF-4F09-BA35-5FE8-54D50F7DD48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44039391"/>
              </p:ext>
            </p:extLst>
          </p:nvPr>
        </p:nvGraphicFramePr>
        <p:xfrm>
          <a:off x="317322" y="7929896"/>
          <a:ext cx="6197948" cy="601200"/>
        </p:xfrm>
        <a:graphic>
          <a:graphicData uri="http://schemas.openxmlformats.org/drawingml/2006/table">
            <a:tbl>
              <a:tblPr/>
              <a:tblGrid>
                <a:gridCol w="1549487">
                  <a:extLst>
                    <a:ext uri="{9D8B030D-6E8A-4147-A177-3AD203B41FA5}">
                      <a16:colId xmlns:a16="http://schemas.microsoft.com/office/drawing/2014/main" val="1931544847"/>
                    </a:ext>
                  </a:extLst>
                </a:gridCol>
                <a:gridCol w="1549487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1549487">
                  <a:extLst>
                    <a:ext uri="{9D8B030D-6E8A-4147-A177-3AD203B41FA5}">
                      <a16:colId xmlns:a16="http://schemas.microsoft.com/office/drawing/2014/main" val="3042050199"/>
                    </a:ext>
                  </a:extLst>
                </a:gridCol>
                <a:gridCol w="1549487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149072"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대상 장비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대상 </a:t>
                      </a: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IP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NAT IP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PRIBIT Connect Gateway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단말</a:t>
                      </a:r>
                      <a:b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가상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대역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 장비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가상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대역</a:t>
                      </a:r>
                      <a:b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Masquerade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9920229A-E494-64FF-5662-FD73FD45E1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350" y="1940640"/>
            <a:ext cx="3505199" cy="2900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ECB140C-81B1-5988-17C9-C30079BF6B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351" y="2201572"/>
            <a:ext cx="209550" cy="102422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0A12D3F-68F5-D67C-DEAD-AC2A3F2E5D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0150" y="2104483"/>
            <a:ext cx="539750" cy="4086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AAD1456-CFA3-8835-816C-7E194C3386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712" y="1695172"/>
            <a:ext cx="5366346" cy="2332859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DA95D8-D044-7870-2CD2-941DA10A867B}"/>
              </a:ext>
            </a:extLst>
          </p:cNvPr>
          <p:cNvGrpSpPr/>
          <p:nvPr userDrawn="1"/>
        </p:nvGrpSpPr>
        <p:grpSpPr>
          <a:xfrm>
            <a:off x="346596" y="8662927"/>
            <a:ext cx="3082403" cy="228246"/>
            <a:chOff x="397573" y="1941304"/>
            <a:chExt cx="3082403" cy="22824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C49FDD-B28E-C86B-1C42-981FCA10C1EB}"/>
                </a:ext>
              </a:extLst>
            </p:cNvPr>
            <p:cNvSpPr txBox="1"/>
            <p:nvPr/>
          </p:nvSpPr>
          <p:spPr>
            <a:xfrm>
              <a:off x="574569" y="1941304"/>
              <a:ext cx="2905407" cy="228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lvl="1" defTabSz="914343" fontAlgn="base">
                <a:buClr>
                  <a:schemeClr val="tx1">
                    <a:lumMod val="65000"/>
                    <a:lumOff val="35000"/>
                  </a:schemeClr>
                </a:buClr>
                <a:buSzPct val="100000"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추가 설정 </a:t>
              </a:r>
              <a:r>
                <a:rPr lang="en-US" altLang="ko-KR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(</a:t>
              </a:r>
              <a:r>
                <a:rPr lang="ko-KR" altLang="en-US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선택 적용 요청</a:t>
              </a:r>
              <a:r>
                <a:rPr lang="en-US" altLang="ko-KR" sz="1000" b="1" kern="1200" dirty="0">
                  <a:solidFill>
                    <a:schemeClr val="accent2"/>
                  </a:solidFill>
                  <a:latin typeface="+mn-ea"/>
                  <a:ea typeface="+mn-ea"/>
                  <a:cs typeface="+mn-cs"/>
                </a:rPr>
                <a:t>)</a:t>
              </a:r>
              <a:endParaRPr lang="ko-KR" altLang="en-US" sz="1000" b="1" kern="1200" dirty="0">
                <a:solidFill>
                  <a:schemeClr val="accent2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7" name="사각형: 잘린 대각선 방향 모서리 26">
              <a:extLst>
                <a:ext uri="{FF2B5EF4-FFF2-40B4-BE49-F238E27FC236}">
                  <a16:creationId xmlns:a16="http://schemas.microsoft.com/office/drawing/2014/main" id="{E0453E48-528A-F73C-0444-1DC7D3A7D365}"/>
                </a:ext>
              </a:extLst>
            </p:cNvPr>
            <p:cNvSpPr/>
            <p:nvPr/>
          </p:nvSpPr>
          <p:spPr>
            <a:xfrm>
              <a:off x="397573" y="1960928"/>
              <a:ext cx="114300" cy="125730"/>
            </a:xfrm>
            <a:prstGeom prst="snip2DiagRect">
              <a:avLst/>
            </a:prstGeom>
            <a:noFill/>
            <a:ln w="28575">
              <a:solidFill>
                <a:srgbClr val="B39D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  <p:graphicFrame>
        <p:nvGraphicFramePr>
          <p:cNvPr id="29" name="Group 480">
            <a:extLst>
              <a:ext uri="{FF2B5EF4-FFF2-40B4-BE49-F238E27FC236}">
                <a16:creationId xmlns:a16="http://schemas.microsoft.com/office/drawing/2014/main" id="{B5E20896-C1C3-7953-3B67-F2FF16981F6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7965297"/>
              </p:ext>
            </p:extLst>
          </p:nvPr>
        </p:nvGraphicFramePr>
        <p:xfrm>
          <a:off x="317322" y="8877765"/>
          <a:ext cx="6197948" cy="601200"/>
        </p:xfrm>
        <a:graphic>
          <a:graphicData uri="http://schemas.openxmlformats.org/drawingml/2006/table">
            <a:tbl>
              <a:tblPr/>
              <a:tblGrid>
                <a:gridCol w="1549487">
                  <a:extLst>
                    <a:ext uri="{9D8B030D-6E8A-4147-A177-3AD203B41FA5}">
                      <a16:colId xmlns:a16="http://schemas.microsoft.com/office/drawing/2014/main" val="1931544847"/>
                    </a:ext>
                  </a:extLst>
                </a:gridCol>
                <a:gridCol w="1549487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1549487">
                  <a:extLst>
                    <a:ext uri="{9D8B030D-6E8A-4147-A177-3AD203B41FA5}">
                      <a16:colId xmlns:a16="http://schemas.microsoft.com/office/drawing/2014/main" val="3042050199"/>
                    </a:ext>
                  </a:extLst>
                </a:gridCol>
                <a:gridCol w="1549487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149072"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대상 장비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목적지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게이트웨이</a:t>
                      </a: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IP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One-Arm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연결 장비</a:t>
                      </a:r>
                      <a:b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방화벽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or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백본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단말</a:t>
                      </a:r>
                      <a:b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가상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대역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 장비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One-Arm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구성에 따른 응답 패킷 처리 라우팅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795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DC0F4-B7D6-4E18-B594-897CCC30CD1B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B7417-F9EC-4C4A-991B-68D1A1DB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17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4" r:id="rId4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99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613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EC420-6956-AEBE-55CF-D20CAF12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480">
            <a:extLst>
              <a:ext uri="{FF2B5EF4-FFF2-40B4-BE49-F238E27FC236}">
                <a16:creationId xmlns:a16="http://schemas.microsoft.com/office/drawing/2014/main" id="{6AAF3C35-79D8-212E-7BFF-68269227E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4051"/>
              </p:ext>
            </p:extLst>
          </p:nvPr>
        </p:nvGraphicFramePr>
        <p:xfrm>
          <a:off x="368299" y="4609184"/>
          <a:ext cx="6123992" cy="1587570"/>
        </p:xfrm>
        <a:graphic>
          <a:graphicData uri="http://schemas.openxmlformats.org/drawingml/2006/table">
            <a:tbl>
              <a:tblPr/>
              <a:tblGrid>
                <a:gridCol w="428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228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1314788">
                  <a:extLst>
                    <a:ext uri="{9D8B030D-6E8A-4147-A177-3AD203B41FA5}">
                      <a16:colId xmlns:a16="http://schemas.microsoft.com/office/drawing/2014/main" val="4287111227"/>
                    </a:ext>
                  </a:extLst>
                </a:gridCol>
                <a:gridCol w="403703">
                  <a:extLst>
                    <a:ext uri="{9D8B030D-6E8A-4147-A177-3AD203B41FA5}">
                      <a16:colId xmlns:a16="http://schemas.microsoft.com/office/drawing/2014/main" val="1359190485"/>
                    </a:ext>
                  </a:extLst>
                </a:gridCol>
                <a:gridCol w="1241013">
                  <a:extLst>
                    <a:ext uri="{9D8B030D-6E8A-4147-A177-3AD203B41FA5}">
                      <a16:colId xmlns:a16="http://schemas.microsoft.com/office/drawing/2014/main" val="2618556011"/>
                    </a:ext>
                  </a:extLst>
                </a:gridCol>
                <a:gridCol w="1300106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264595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No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시스템명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IP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Port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프로세스명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595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Ex)</a:t>
                      </a:r>
                      <a:r>
                        <a:rPr lang="ko-KR" altLang="en-US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그룹웨어</a:t>
                      </a:r>
                      <a:endParaRPr lang="en-US" altLang="ko-KR" sz="1000" b="1" kern="12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Ex)192.168.60.100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443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Chrome.exe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사내 그룹웨어 접근</a:t>
                      </a:r>
                      <a:endParaRPr lang="en-US" altLang="ko-KR" sz="1000" b="1" kern="12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2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3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273571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04794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5304"/>
                  </a:ext>
                </a:extLst>
              </a:tr>
            </a:tbl>
          </a:graphicData>
        </a:graphic>
      </p:graphicFrame>
      <p:graphicFrame>
        <p:nvGraphicFramePr>
          <p:cNvPr id="21" name="Group 480">
            <a:extLst>
              <a:ext uri="{FF2B5EF4-FFF2-40B4-BE49-F238E27FC236}">
                <a16:creationId xmlns:a16="http://schemas.microsoft.com/office/drawing/2014/main" id="{52EA6BC5-66AB-B6F8-8BDB-4C877D106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864761"/>
              </p:ext>
            </p:extLst>
          </p:nvPr>
        </p:nvGraphicFramePr>
        <p:xfrm>
          <a:off x="368299" y="1893457"/>
          <a:ext cx="6123991" cy="2363280"/>
        </p:xfrm>
        <a:graphic>
          <a:graphicData uri="http://schemas.openxmlformats.org/drawingml/2006/table">
            <a:tbl>
              <a:tblPr/>
              <a:tblGrid>
                <a:gridCol w="448400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834523">
                  <a:extLst>
                    <a:ext uri="{9D8B030D-6E8A-4147-A177-3AD203B41FA5}">
                      <a16:colId xmlns:a16="http://schemas.microsoft.com/office/drawing/2014/main" val="4287111227"/>
                    </a:ext>
                  </a:extLst>
                </a:gridCol>
                <a:gridCol w="612502">
                  <a:extLst>
                    <a:ext uri="{9D8B030D-6E8A-4147-A177-3AD203B41FA5}">
                      <a16:colId xmlns:a16="http://schemas.microsoft.com/office/drawing/2014/main" val="2618556011"/>
                    </a:ext>
                  </a:extLst>
                </a:gridCol>
                <a:gridCol w="1630903">
                  <a:extLst>
                    <a:ext uri="{9D8B030D-6E8A-4147-A177-3AD203B41FA5}">
                      <a16:colId xmlns:a16="http://schemas.microsoft.com/office/drawing/2014/main" val="673037512"/>
                    </a:ext>
                  </a:extLst>
                </a:gridCol>
                <a:gridCol w="2597663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166656"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IP </a:t>
                      </a: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주소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사설</a:t>
                      </a: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IP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39">
                <a:tc rowSpan="4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장비</a:t>
                      </a:r>
                      <a:endParaRPr lang="en-US" altLang="ko-KR" sz="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컨트롤러</a:t>
                      </a:r>
                      <a:endParaRPr lang="en-US" altLang="ko-KR" sz="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공인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Ex) 2xx.1xx.1xx.123/24</a:t>
                      </a:r>
                    </a:p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G/W 2xx.1xx.1xx.1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공인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외부 단말의 인증 및 정책 수신용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내부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내부 관리 및 모니터링용 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  <a:tr h="2798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내부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Ex) 10.10.0.10/20 </a:t>
                      </a:r>
                    </a:p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G/W 10.10.0.1  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6979"/>
                  </a:ext>
                </a:extLst>
              </a:tr>
              <a:tr h="279839">
                <a:tc v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게이트웨이</a:t>
                      </a:r>
                      <a:endParaRPr lang="en-US" altLang="ko-KR" sz="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공인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Ex) 2xx.1xx.1xx.124/24 </a:t>
                      </a:r>
                    </a:p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G/W 2xx.1xx.1xx.1 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공인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사용자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VPN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터널 연결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엔드포인트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내부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내부 시스템과의 통신 및 트래픽 라우팅 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3969"/>
                  </a:ext>
                </a:extLst>
              </a:tr>
              <a:tr h="279839">
                <a:tc v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내부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Ex) 10.10.0.11/20 </a:t>
                      </a:r>
                    </a:p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G/W 10.10.0.1 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092510"/>
                  </a:ext>
                </a:extLst>
              </a:tr>
              <a:tr h="279839">
                <a:tc gridSpan="3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단말에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</a:t>
                      </a: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할당할 </a:t>
                      </a:r>
                      <a:b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</a:b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가상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 </a:t>
                      </a: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대역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출발지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Ex) 192.168.40.0/24</a:t>
                      </a:r>
                      <a:endParaRPr lang="ko-KR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접속하는 사용자 단말에 할당되는 논리적 주소 공간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동시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접속자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수에 따른 대역 크기 권장사항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407979"/>
                  </a:ext>
                </a:extLst>
              </a:tr>
              <a:tr h="393023">
                <a:tc gridSpan="3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접근 시스템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IP</a:t>
                      </a: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대역 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(</a:t>
                      </a:r>
                      <a:r>
                        <a:rPr lang="ko-KR" altLang="en-US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목적지</a:t>
                      </a:r>
                      <a:r>
                        <a:rPr lang="en-US" altLang="ko-KR" sz="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l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Ex) 10.0.0.0/24, </a:t>
                      </a:r>
                    </a:p>
                    <a:p>
                      <a:pPr latinLnBrk="1"/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10.0.1.0/24, </a:t>
                      </a:r>
                    </a:p>
                    <a:p>
                      <a:pPr latinLnBrk="1"/>
                      <a:r>
                        <a:rPr lang="en-US" altLang="ko-KR" sz="800" b="1" kern="12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10.0.2.0/24, … 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SDP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를 통해 접근 가능한 내부 자원의 범위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  <a:p>
                      <a:pPr marL="0" marR="0" lvl="1" indent="0" algn="just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 〮 보안 정책 및 라우팅 설정 기준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74767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67A59F6-A4E6-4778-CABF-45022A673DE3}"/>
              </a:ext>
            </a:extLst>
          </p:cNvPr>
          <p:cNvSpPr txBox="1"/>
          <p:nvPr/>
        </p:nvSpPr>
        <p:spPr>
          <a:xfrm>
            <a:off x="2494116" y="6264521"/>
            <a:ext cx="4065434" cy="2282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latin typeface="+mn-ea"/>
              </a:rPr>
              <a:t>※ </a:t>
            </a:r>
            <a:r>
              <a:rPr lang="ko-KR" altLang="en-US" sz="900" b="1" dirty="0">
                <a:latin typeface="+mn-ea"/>
              </a:rPr>
              <a:t>프로세스 및 기타 정보가 불분명 할 경우 시스템명만 작성해주시면 됩니다</a:t>
            </a:r>
            <a:r>
              <a:rPr lang="en-US" altLang="ko-KR" sz="900" b="1" dirty="0">
                <a:latin typeface="+mn-ea"/>
              </a:rPr>
              <a:t>.</a:t>
            </a:r>
            <a:endParaRPr lang="ko-KR" altLang="en-US" sz="900" b="1" dirty="0">
              <a:latin typeface="+mn-ea"/>
            </a:endParaRPr>
          </a:p>
        </p:txBody>
      </p:sp>
      <p:graphicFrame>
        <p:nvGraphicFramePr>
          <p:cNvPr id="3" name="Group 480">
            <a:extLst>
              <a:ext uri="{FF2B5EF4-FFF2-40B4-BE49-F238E27FC236}">
                <a16:creationId xmlns:a16="http://schemas.microsoft.com/office/drawing/2014/main" id="{669E2A85-EF36-4FC7-153B-F4C8BE30B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183381"/>
              </p:ext>
            </p:extLst>
          </p:nvPr>
        </p:nvGraphicFramePr>
        <p:xfrm>
          <a:off x="368299" y="7056055"/>
          <a:ext cx="6123992" cy="1322975"/>
        </p:xfrm>
        <a:graphic>
          <a:graphicData uri="http://schemas.openxmlformats.org/drawingml/2006/table">
            <a:tbl>
              <a:tblPr/>
              <a:tblGrid>
                <a:gridCol w="428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228">
                  <a:extLst>
                    <a:ext uri="{9D8B030D-6E8A-4147-A177-3AD203B41FA5}">
                      <a16:colId xmlns:a16="http://schemas.microsoft.com/office/drawing/2014/main" val="2262164254"/>
                    </a:ext>
                  </a:extLst>
                </a:gridCol>
                <a:gridCol w="1078930">
                  <a:extLst>
                    <a:ext uri="{9D8B030D-6E8A-4147-A177-3AD203B41FA5}">
                      <a16:colId xmlns:a16="http://schemas.microsoft.com/office/drawing/2014/main" val="4287111227"/>
                    </a:ext>
                  </a:extLst>
                </a:gridCol>
                <a:gridCol w="3180680">
                  <a:extLst>
                    <a:ext uri="{9D8B030D-6E8A-4147-A177-3AD203B41FA5}">
                      <a16:colId xmlns:a16="http://schemas.microsoft.com/office/drawing/2014/main" val="1408922342"/>
                    </a:ext>
                  </a:extLst>
                </a:gridCol>
              </a:tblGrid>
              <a:tr h="264595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No</a:t>
                      </a: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적용 플랫폼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PoC </a:t>
                      </a: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대상 여부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809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  <a:endParaRPr kumimoji="1" lang="en-US" altLang="ko-KR" sz="1000" b="1" kern="120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6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595">
                <a:tc>
                  <a:txBody>
                    <a:bodyPr/>
                    <a:lstStyle>
                      <a:lvl1pPr marL="0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3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27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3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5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66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79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92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05" algn="l" defTabSz="91442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Windows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3354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2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MacOS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3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Android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273571"/>
                  </a:ext>
                </a:extLst>
              </a:tr>
              <a:tr h="264595"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 Unicode MS" pitchFamily="50" charset="-127"/>
                        </a:rPr>
                        <a:t>iOS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3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 Unicode MS" pitchFamily="50" charset="-127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047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97B2C7-1EC2-6C53-2726-82257F50C199}"/>
              </a:ext>
            </a:extLst>
          </p:cNvPr>
          <p:cNvSpPr txBox="1"/>
          <p:nvPr/>
        </p:nvSpPr>
        <p:spPr>
          <a:xfrm>
            <a:off x="4407525" y="8391387"/>
            <a:ext cx="2152025" cy="1594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latin typeface="+mn-ea"/>
              </a:rPr>
              <a:t>※ PoC </a:t>
            </a:r>
            <a:r>
              <a:rPr lang="ko-KR" altLang="en-US" sz="900" b="1" dirty="0">
                <a:latin typeface="+mn-ea"/>
              </a:rPr>
              <a:t>할 단말에 표시해 주시면 됩니다</a:t>
            </a:r>
            <a:r>
              <a:rPr lang="en-US" altLang="ko-KR" sz="900" b="1" dirty="0">
                <a:latin typeface="+mn-ea"/>
              </a:rPr>
              <a:t>.</a:t>
            </a:r>
            <a:endParaRPr lang="ko-KR" altLang="en-US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147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4EF59E-0F00-539B-DCCE-8B371783A03C}"/>
              </a:ext>
            </a:extLst>
          </p:cNvPr>
          <p:cNvSpPr txBox="1"/>
          <p:nvPr/>
        </p:nvSpPr>
        <p:spPr>
          <a:xfrm>
            <a:off x="1684020" y="10200919"/>
            <a:ext cx="4831013" cy="2282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lvl="1" defTabSz="914343" fontAlgn="base"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altLang="ko-KR" sz="900" b="1" dirty="0">
                <a:latin typeface="+mn-ea"/>
              </a:rPr>
              <a:t>※ </a:t>
            </a:r>
            <a:r>
              <a:rPr lang="ko-KR" altLang="en-US" sz="900" b="1" dirty="0">
                <a:latin typeface="+mn-ea"/>
              </a:rPr>
              <a:t>연결 장비에서 응답 라우팅 설정이 불가능한 경우 </a:t>
            </a:r>
            <a:r>
              <a:rPr lang="en-US" altLang="ko-KR" sz="900" b="1" dirty="0">
                <a:latin typeface="+mn-ea"/>
              </a:rPr>
              <a:t>PRIBIT</a:t>
            </a:r>
            <a:r>
              <a:rPr lang="ko-KR" altLang="en-US" sz="900" b="1" dirty="0">
                <a:latin typeface="+mn-ea"/>
              </a:rPr>
              <a:t> 게이트웨이에서 설정 가능합니다</a:t>
            </a:r>
            <a:r>
              <a:rPr lang="en-US" altLang="ko-KR" sz="900" b="1" dirty="0">
                <a:latin typeface="+mn-ea"/>
              </a:rPr>
              <a:t>.</a:t>
            </a:r>
            <a:r>
              <a:rPr lang="ko-KR" altLang="en-US" sz="900" b="1" dirty="0"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450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959</TotalTime>
  <Words>244</Words>
  <Application>Microsoft Office PowerPoint</Application>
  <PresentationFormat>A4 용지(210x297mm)</PresentationFormat>
  <Paragraphs>63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Noto Sans CJK KR Bold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승환</dc:creator>
  <cp:lastModifiedBy>박문성</cp:lastModifiedBy>
  <cp:revision>69</cp:revision>
  <cp:lastPrinted>2024-08-06T04:11:32Z</cp:lastPrinted>
  <dcterms:created xsi:type="dcterms:W3CDTF">2023-05-22T06:51:59Z</dcterms:created>
  <dcterms:modified xsi:type="dcterms:W3CDTF">2026-01-14T06:35:54Z</dcterms:modified>
</cp:coreProperties>
</file>